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594360"/>
            <a:ext cx="1005840" cy="1005840"/>
          </a:xfrm>
          <a:prstGeom prst="ellipse">
            <a:avLst/>
          </a:prstGeom>
          <a:solidFill>
            <a:srgbClr val="23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1417320"/>
            <a:ext cx="640080" cy="640080"/>
          </a:xfrm>
          <a:prstGeom prst="ellipse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26880" y="1828800"/>
            <a:ext cx="411480" cy="411480"/>
          </a:xfrm>
          <a:prstGeom prst="ellipse">
            <a:avLst/>
          </a:prstGeom>
          <a:solidFill>
            <a:srgbClr val="F7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61320" y="2743200"/>
            <a:ext cx="1371600" cy="1371600"/>
          </a:xfrm>
          <a:prstGeom prst="ellipse">
            <a:avLst/>
          </a:prstGeom>
          <a:solidFill>
            <a:srgbClr val="1D3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8778240" cy="1645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7F9FC"/>
                </a:solidFill>
                <a:latin typeface="Aptos"/>
              </a:defRPr>
            </a:pPr>
            <a:r>
              <a:t>CURRENCY CONVERTER</a:t>
            </a:r>
          </a:p>
          <a:p>
            <a:pPr>
              <a:spcAft>
                <a:spcPts val="700"/>
              </a:spcAft>
              <a:defRPr sz="3400" b="1">
                <a:solidFill>
                  <a:srgbClr val="F7F9FC"/>
                </a:solidFill>
                <a:latin typeface="Aptos"/>
              </a:defRPr>
            </a:pPr>
            <a:r>
              <a:t>SYSTEM USING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7955279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31BECC"/>
                </a:solidFill>
                <a:latin typeface="Aptos"/>
              </a:defRPr>
            </a:pPr>
            <a:r>
              <a:t>A menu-driven Java application for converting currencies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3456432"/>
            <a:ext cx="1097280" cy="54864"/>
          </a:xfrm>
          <a:prstGeom prst="rect">
            <a:avLst/>
          </a:prstGeom>
          <a:solidFill>
            <a:srgbClr val="F7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767328"/>
            <a:ext cx="2743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7A44A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7132320" cy="1417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r>
              <a:t>Sanjay AB  —  8115U25EC149</a:t>
            </a:r>
          </a:p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r>
              <a:t>Shri Suriya S  —  8115U25EC163</a:t>
            </a:r>
          </a:p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r>
              <a:t>Vijaykarthikeyan  —  8115U25EC185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17920"/>
            <a:ext cx="7772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E1E9F4"/>
                </a:solidFill>
                <a:latin typeface="Aptos"/>
              </a:defRPr>
            </a:pPr>
            <a:r>
              <a:t>JAVA  •  CONTROL FLOW  •  CURRENCY CONVERSION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01  | 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51560" cy="50292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E1E9F4"/>
                </a:solidFill>
                <a:latin typeface="Aptos"/>
              </a:defRPr>
            </a:pPr>
            <a:r>
              <a:t>What the system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1BEC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182880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56232"/>
            <a:ext cx="54864" cy="1499616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31546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1BECC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04288"/>
            <a:ext cx="3136392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7F9FC"/>
                </a:solidFill>
                <a:latin typeface="Aptos"/>
              </a:defRPr>
            </a:pPr>
            <a:r>
              <a:t>Convert an entered amount between selected currencies using predefined exchange-rate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82880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56232"/>
            <a:ext cx="54864" cy="1499616"/>
          </a:xfrm>
          <a:prstGeom prst="rect">
            <a:avLst/>
          </a:prstGeom>
          <a:solidFill>
            <a:srgbClr val="23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56232"/>
            <a:ext cx="31546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35BAA"/>
                </a:solidFill>
                <a:latin typeface="Aptos"/>
              </a:defRPr>
            </a:pPr>
            <a:r>
              <a:t>User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04288"/>
            <a:ext cx="3136392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7F9FC"/>
                </a:solidFill>
                <a:latin typeface="Aptos"/>
              </a:defRPr>
            </a:pPr>
            <a:r>
              <a:t>A numbered menu lets the user choose a conversion or exit the application.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91640"/>
            <a:ext cx="3520440" cy="182880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56232"/>
            <a:ext cx="54864" cy="1499616"/>
          </a:xfrm>
          <a:prstGeom prst="rect">
            <a:avLst/>
          </a:prstGeom>
          <a:solidFill>
            <a:srgbClr val="F7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856232"/>
            <a:ext cx="31546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7A44A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04288"/>
            <a:ext cx="3136392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7F9FC"/>
                </a:solidFill>
                <a:latin typeface="Aptos"/>
              </a:defRPr>
            </a:pPr>
            <a:r>
              <a:t>A simple console-based project demonstrating core Java programming concepts.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36576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7F9FC"/>
                </a:solidFill>
                <a:latin typeface="Aptos"/>
              </a:defRPr>
            </a:pPr>
            <a:r>
              <a:t>Supported conversions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5303520" cy="146304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7F9FC"/>
                </a:solidFill>
                <a:latin typeface="Aptos"/>
              </a:defRPr>
            </a:pPr>
            <a:r>
              <a:t>•  INR ↔ USD (US Dollar)</a:t>
            </a:r>
          </a:p>
          <a:p>
            <a:pPr>
              <a:spcAft>
                <a:spcPts val="1200"/>
              </a:spcAft>
              <a:defRPr sz="1800">
                <a:solidFill>
                  <a:srgbClr val="F7F9FC"/>
                </a:solidFill>
                <a:latin typeface="Aptos"/>
              </a:defRPr>
            </a:pPr>
            <a:r>
              <a:t>•  INR ↔ EUR (Euro)</a:t>
            </a:r>
          </a:p>
          <a:p>
            <a:pPr>
              <a:spcAft>
                <a:spcPts val="1200"/>
              </a:spcAft>
              <a:defRPr sz="1800">
                <a:solidFill>
                  <a:srgbClr val="F7F9FC"/>
                </a:solidFill>
                <a:latin typeface="Aptos"/>
              </a:defRPr>
            </a:pPr>
            <a:r>
              <a:t>•  INR ↔ GBP (British Pound)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434840"/>
            <a:ext cx="4937760" cy="10972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7A44A"/>
                </a:solidFill>
                <a:latin typeface="Aptos"/>
              </a:defRPr>
            </a:pPr>
            <a:r>
              <a:t>Important: the rates in this educational version are fixed example values, not live exchange rates.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1BEC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02  |  Program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51560" cy="50292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E1E9F4"/>
                </a:solidFill>
                <a:latin typeface="Aptos"/>
              </a:defRPr>
            </a:pPr>
            <a:r>
              <a:t>From user choice to converted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1BEC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Oval 5"/>
          <p:cNvSpPr/>
          <p:nvPr/>
        </p:nvSpPr>
        <p:spPr>
          <a:xfrm>
            <a:off x="1252728" y="1874519"/>
            <a:ext cx="566928" cy="566928"/>
          </a:xfrm>
          <a:prstGeom prst="ellipse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52728" y="1975104"/>
            <a:ext cx="566928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0F1B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17373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Display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00400"/>
            <a:ext cx="196596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E1E9F4"/>
                </a:solidFill>
                <a:latin typeface="Aptos"/>
              </a:defRPr>
            </a:pPr>
            <a:r>
              <a:t>Show six conversion options and Exit.</a:t>
            </a:r>
          </a:p>
        </p:txBody>
      </p:sp>
      <p:sp>
        <p:nvSpPr>
          <p:cNvPr id="10" name="Chevron 9"/>
          <p:cNvSpPr/>
          <p:nvPr/>
        </p:nvSpPr>
        <p:spPr>
          <a:xfrm>
            <a:off x="2103120" y="2029968"/>
            <a:ext cx="502920" cy="256032"/>
          </a:xfrm>
          <a:prstGeom prst="chevron">
            <a:avLst/>
          </a:prstGeom>
          <a:solidFill>
            <a:srgbClr val="23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57016" y="1874519"/>
            <a:ext cx="566928" cy="566928"/>
          </a:xfrm>
          <a:prstGeom prst="ellipse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57016" y="1975104"/>
            <a:ext cx="566928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0F1B3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697480"/>
            <a:ext cx="17373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Read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00400"/>
            <a:ext cx="196596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E1E9F4"/>
                </a:solidFill>
                <a:latin typeface="Aptos"/>
              </a:defRPr>
            </a:pPr>
            <a:r>
              <a:t>Accept the menu choice and amount.</a:t>
            </a:r>
          </a:p>
        </p:txBody>
      </p:sp>
      <p:sp>
        <p:nvSpPr>
          <p:cNvPr id="15" name="Chevron 14"/>
          <p:cNvSpPr/>
          <p:nvPr/>
        </p:nvSpPr>
        <p:spPr>
          <a:xfrm>
            <a:off x="4407408" y="2029968"/>
            <a:ext cx="502920" cy="256032"/>
          </a:xfrm>
          <a:prstGeom prst="chevron">
            <a:avLst/>
          </a:prstGeom>
          <a:solidFill>
            <a:srgbClr val="23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61304" y="1874519"/>
            <a:ext cx="566928" cy="566928"/>
          </a:xfrm>
          <a:prstGeom prst="ellipse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61304" y="1975104"/>
            <a:ext cx="566928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0F1B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6" y="2697480"/>
            <a:ext cx="17373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3200400"/>
            <a:ext cx="196596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E1E9F4"/>
                </a:solidFill>
                <a:latin typeface="Aptos"/>
              </a:defRPr>
            </a:pPr>
            <a:r>
              <a:t>Reject negative amounts and invalid choices.</a:t>
            </a:r>
          </a:p>
        </p:txBody>
      </p:sp>
      <p:sp>
        <p:nvSpPr>
          <p:cNvPr id="20" name="Chevron 19"/>
          <p:cNvSpPr/>
          <p:nvPr/>
        </p:nvSpPr>
        <p:spPr>
          <a:xfrm>
            <a:off x="6711696" y="2029968"/>
            <a:ext cx="502920" cy="256032"/>
          </a:xfrm>
          <a:prstGeom prst="chevron">
            <a:avLst/>
          </a:prstGeom>
          <a:solidFill>
            <a:srgbClr val="23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65592" y="1874519"/>
            <a:ext cx="566928" cy="566928"/>
          </a:xfrm>
          <a:prstGeom prst="ellipse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65592" y="1975104"/>
            <a:ext cx="566928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0F1B3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4" y="2697480"/>
            <a:ext cx="17373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200400"/>
            <a:ext cx="196596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E1E9F4"/>
                </a:solidFill>
                <a:latin typeface="Aptos"/>
              </a:defRPr>
            </a:pPr>
            <a:r>
              <a:t>Apply the selected exchange-rate formula.</a:t>
            </a:r>
          </a:p>
        </p:txBody>
      </p:sp>
      <p:sp>
        <p:nvSpPr>
          <p:cNvPr id="25" name="Chevron 24"/>
          <p:cNvSpPr/>
          <p:nvPr/>
        </p:nvSpPr>
        <p:spPr>
          <a:xfrm>
            <a:off x="9015984" y="2029968"/>
            <a:ext cx="502920" cy="256032"/>
          </a:xfrm>
          <a:prstGeom prst="chevron">
            <a:avLst/>
          </a:prstGeom>
          <a:solidFill>
            <a:srgbClr val="23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69880" y="1874519"/>
            <a:ext cx="566928" cy="566928"/>
          </a:xfrm>
          <a:prstGeom prst="ellipse">
            <a:avLst/>
          </a:prstGeom>
          <a:solidFill>
            <a:srgbClr val="36B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69880" y="1975104"/>
            <a:ext cx="566928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0F1B3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2697480"/>
            <a:ext cx="173736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7F9FC"/>
                </a:solidFill>
                <a:latin typeface="Aptos"/>
              </a:defRPr>
            </a:pPr>
            <a:r>
              <a:t>Display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3224" y="3200400"/>
            <a:ext cx="1965960" cy="11430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E1E9F4"/>
                </a:solidFill>
                <a:latin typeface="Aptos"/>
              </a:defRPr>
            </a:pPr>
            <a:r>
              <a:t>Print the converted amount to 2 decimal places.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31BECC"/>
                </a:solidFill>
                <a:latin typeface="Aptos"/>
              </a:defRPr>
            </a:pPr>
            <a:r>
              <a:t>The do-while loop repeats the menu until the user selects option 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03  |  Java Concepts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51560" cy="50292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E1E9F4"/>
                </a:solidFill>
                <a:latin typeface="Aptos"/>
              </a:defRPr>
            </a:pPr>
            <a:r>
              <a:t>Core language features in the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1BEC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29000" cy="160020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64792"/>
            <a:ext cx="54864" cy="1271016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64792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1BECC"/>
                </a:solidFill>
                <a:latin typeface="Aptos"/>
              </a:defRPr>
            </a:pPr>
            <a:r>
              <a:t>Scanner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3044952" cy="8869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7F9FC"/>
                </a:solidFill>
                <a:latin typeface="Aptos"/>
              </a:defRPr>
            </a:pPr>
            <a:r>
              <a:t>Reads keyboard input such as the menu choice and amount.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429000" cy="160020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764792"/>
            <a:ext cx="54864" cy="1271016"/>
          </a:xfrm>
          <a:prstGeom prst="rect">
            <a:avLst/>
          </a:prstGeom>
          <a:solidFill>
            <a:srgbClr val="23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764792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35BAA"/>
                </a:solidFill>
                <a:latin typeface="Aptos"/>
              </a:defRPr>
            </a:pPr>
            <a:r>
              <a:t>Variables &amp; data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12848"/>
            <a:ext cx="3044952" cy="8869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7F9FC"/>
                </a:solidFill>
                <a:latin typeface="Aptos"/>
              </a:defRPr>
            </a:pPr>
            <a:r>
              <a:t>int stores the choice; double stores amounts and rates.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00200"/>
            <a:ext cx="3429000" cy="160020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764792"/>
            <a:ext cx="54864" cy="1271016"/>
          </a:xfrm>
          <a:prstGeom prst="rect">
            <a:avLst/>
          </a:prstGeom>
          <a:solidFill>
            <a:srgbClr val="F7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1764792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7A44A"/>
                </a:solidFill>
                <a:latin typeface="Aptos"/>
              </a:defRPr>
            </a:pPr>
            <a:r>
              <a:t>switch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12848"/>
            <a:ext cx="3044952" cy="8869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7F9FC"/>
                </a:solidFill>
                <a:latin typeface="Aptos"/>
              </a:defRPr>
            </a:pPr>
            <a:r>
              <a:t>Selects the correct conversion formula based on the menu option.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429000" cy="160020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822191"/>
            <a:ext cx="54864" cy="1271016"/>
          </a:xfrm>
          <a:prstGeom prst="rect">
            <a:avLst/>
          </a:prstGeom>
          <a:solidFill>
            <a:srgbClr val="36B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" y="3822191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6B07E"/>
                </a:solidFill>
                <a:latin typeface="Aptos"/>
              </a:defRPr>
            </a:pPr>
            <a:r>
              <a:t>do-while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70248"/>
            <a:ext cx="3044952" cy="8869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7F9FC"/>
                </a:solidFill>
                <a:latin typeface="Aptos"/>
              </a:defRPr>
            </a:pPr>
            <a:r>
              <a:t>Repeats the menu at least once and continues until Exit.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657600"/>
            <a:ext cx="3429000" cy="160020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822191"/>
            <a:ext cx="54864" cy="1271016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44568" y="3822191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1BECC"/>
                </a:solidFill>
                <a:latin typeface="Aptos"/>
              </a:defRPr>
            </a:pPr>
            <a:r>
              <a:t>if-else conditions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270248"/>
            <a:ext cx="3044952" cy="8869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7F9FC"/>
                </a:solidFill>
                <a:latin typeface="Aptos"/>
              </a:defRPr>
            </a:pPr>
            <a:r>
              <a:t>Checks negative amounts and handles invalid menu choices.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657600"/>
            <a:ext cx="3429000" cy="160020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1000" y="3822191"/>
            <a:ext cx="54864" cy="1271016"/>
          </a:xfrm>
          <a:prstGeom prst="rect">
            <a:avLst/>
          </a:prstGeom>
          <a:solidFill>
            <a:srgbClr val="23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02168" y="3822191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35BAA"/>
                </a:solidFill>
                <a:latin typeface="Aptos"/>
              </a:defRPr>
            </a:pPr>
            <a:r>
              <a:t>printf formatting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4270248"/>
            <a:ext cx="3044952" cy="8869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7F9FC"/>
                </a:solidFill>
                <a:latin typeface="Aptos"/>
              </a:defRPr>
            </a:pPr>
            <a:r>
              <a:t>Displays the result to two decimal places using %.2f.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04  |  Conversion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51560" cy="50292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E1E9F4"/>
                </a:solidFill>
                <a:latin typeface="Aptos"/>
              </a:defRPr>
            </a:pPr>
            <a:r>
              <a:t>How the calculations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1BEC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150876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10512"/>
            <a:ext cx="54864" cy="1179576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4800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1BECC"/>
                </a:solidFill>
                <a:latin typeface="Aptos"/>
              </a:defRPr>
            </a:pPr>
            <a:r>
              <a:t>From INR to another currency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4782312" cy="7955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Converted amount = INR amount ×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5166360" cy="150876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10512"/>
            <a:ext cx="54864" cy="1179576"/>
          </a:xfrm>
          <a:prstGeom prst="rect">
            <a:avLst/>
          </a:prstGeom>
          <a:solidFill>
            <a:srgbClr val="F7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810512"/>
            <a:ext cx="48006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7A44A"/>
                </a:solidFill>
                <a:latin typeface="Aptos"/>
              </a:defRPr>
            </a:pPr>
            <a:r>
              <a:t>From another currency to INR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258568"/>
            <a:ext cx="4782312" cy="79552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7F9FC"/>
                </a:solidFill>
                <a:latin typeface="Aptos"/>
              </a:defRPr>
            </a:pPr>
            <a:r>
              <a:t>INR amount = foreign amount ÷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45720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7F9FC"/>
                </a:solidFill>
                <a:latin typeface="Aptos"/>
              </a:defRPr>
            </a:pPr>
            <a:r>
              <a:t>Example rates used in the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4297680" cy="155448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7F9FC"/>
                </a:solidFill>
                <a:latin typeface="Aptos"/>
              </a:defRPr>
            </a:pPr>
            <a:r>
              <a:t>•  1 INR ≈ 0.012 USD</a:t>
            </a:r>
          </a:p>
          <a:p>
            <a:pPr>
              <a:spcAft>
                <a:spcPts val="1200"/>
              </a:spcAft>
              <a:defRPr sz="1700">
                <a:solidFill>
                  <a:srgbClr val="F7F9FC"/>
                </a:solidFill>
                <a:latin typeface="Aptos"/>
              </a:defRPr>
            </a:pPr>
            <a:r>
              <a:t>•  1 INR ≈ 0.011 EUR</a:t>
            </a:r>
          </a:p>
          <a:p>
            <a:pPr>
              <a:spcAft>
                <a:spcPts val="1200"/>
              </a:spcAft>
              <a:defRPr sz="1700">
                <a:solidFill>
                  <a:srgbClr val="F7F9FC"/>
                </a:solidFill>
                <a:latin typeface="Aptos"/>
              </a:defRPr>
            </a:pPr>
            <a:r>
              <a:t>•  1 INR ≈ 0.0095 GBP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114800"/>
            <a:ext cx="4937760" cy="1463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E1E9F4"/>
                </a:solidFill>
                <a:latin typeface="Aptos"/>
              </a:defRPr>
            </a:pPr>
            <a:r>
              <a:t>These values are illustrative. A production application should obtain current rates from a trusted exchange-rate API and handle fees/rounding.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623560"/>
            <a:ext cx="493776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1BECC"/>
                </a:solidFill>
                <a:latin typeface="Aptos"/>
              </a:defRPr>
            </a:pPr>
            <a:r>
              <a:t>Always use consistent rates for the forward and reverse calculations.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05  |  Source Code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51560" cy="50292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E1E9F4"/>
                </a:solidFill>
                <a:latin typeface="Aptos"/>
              </a:defRPr>
            </a:pPr>
            <a:r>
              <a:t>Setup, rates, menu and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1BEC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27080" cy="4754880"/>
          </a:xfrm>
          <a:prstGeom prst="roundRect">
            <a:avLst/>
          </a:prstGeom>
          <a:solidFill>
            <a:srgbClr val="091121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664207"/>
            <a:ext cx="10597896" cy="45354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import java.util.Scanner;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public class CurrencyConverter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   public static void main(String[] args)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       Scanner sc = new Scanner(System.in);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FFBE73"/>
                </a:solidFill>
                <a:latin typeface="Consolas"/>
              </a:defRPr>
            </a:pPr>
            <a:r>
              <a:t>        double amount, convertedAmount;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       int choice;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       // Fixed example exchange rates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FFBE73"/>
                </a:solidFill>
                <a:latin typeface="Consolas"/>
              </a:defRPr>
            </a:pPr>
            <a:r>
              <a:t>        double USD = 0.012;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FFBE73"/>
                </a:solidFill>
                <a:latin typeface="Consolas"/>
              </a:defRPr>
            </a:pPr>
            <a:r>
              <a:t>        double EUR = 0.011;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FFBE73"/>
                </a:solidFill>
                <a:latin typeface="Consolas"/>
              </a:defRPr>
            </a:pPr>
            <a:r>
              <a:t>        double GBP = 0.0095;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FFBE73"/>
                </a:solidFill>
                <a:latin typeface="Consolas"/>
              </a:defRPr>
            </a:pPr>
            <a:r>
              <a:t>        do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           System.out.println("\n===== CURRENCY CONVERTER =====");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           System.out.println("1. INR to USD");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           System.out.println("2. USD to INR");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           System.out.println("3. INR to EUR");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           System.out.println("4. EUR to INR");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           System.out.println("5. INR to GBP");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           System.out.println("6. GBP to INR");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           System.out.println("7. Exit");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           System.out.print("Enter your choice: 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50">
                <a:solidFill>
                  <a:srgbClr val="AFDCE8"/>
                </a:solidFill>
                <a:latin typeface="Consolas"/>
              </a:defRPr>
            </a:pPr>
            <a:r>
              <a:t>            choice = sc.nextInt();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06  |  Source Code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51560" cy="50292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E1E9F4"/>
                </a:solidFill>
                <a:latin typeface="Aptos"/>
              </a:defRPr>
            </a:pPr>
            <a:r>
              <a:t>Validation, conversion cases and exit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1BEC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27080" cy="4800600"/>
          </a:xfrm>
          <a:prstGeom prst="roundRect">
            <a:avLst/>
          </a:prstGeom>
          <a:solidFill>
            <a:srgbClr val="091121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664207"/>
            <a:ext cx="10597896" cy="45811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FFBE73"/>
                </a:solidFill>
                <a:latin typeface="Consolas"/>
              </a:defRPr>
            </a:pPr>
            <a:r>
              <a:t>            if (choice &gt;= 1 &amp;&amp; choice &lt;= 6)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    System.out.print("Enter amount: 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    amount = sc.nextDouble();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FFBE73"/>
                </a:solidFill>
                <a:latin typeface="Consolas"/>
              </a:defRPr>
            </a:pPr>
            <a:r>
              <a:t>                if (amount &lt; 0)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        System.out.println("Amount cannot be negative.");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        continue;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FFBE73"/>
                </a:solidFill>
                <a:latin typeface="Consolas"/>
              </a:defRPr>
            </a:pPr>
            <a:r>
              <a:t>                switch (choice)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FFBE73"/>
                </a:solidFill>
                <a:latin typeface="Consolas"/>
              </a:defRPr>
            </a:pPr>
            <a:r>
              <a:t>                    case 1: convertedAmount = amount * USD;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                System.out.printf("USD: %.2f%n", convertedAmount); break;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FFBE73"/>
                </a:solidFill>
                <a:latin typeface="Consolas"/>
              </a:defRPr>
            </a:pPr>
            <a:r>
              <a:t>                    case 2: convertedAmount = amount / USD;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                System.out.printf("INR: %.2f%n", convertedAmount); break;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FFBE73"/>
                </a:solidFill>
                <a:latin typeface="Consolas"/>
              </a:defRPr>
            </a:pPr>
            <a:r>
              <a:t>                    case 3: convertedAmount = amount * EUR;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                System.out.printf("EUR: %.2f%n", convertedAmount); break;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FFBE73"/>
                </a:solidFill>
                <a:latin typeface="Consolas"/>
              </a:defRPr>
            </a:pPr>
            <a:r>
              <a:t>                    case 4: convertedAmount = amount / EUR;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                System.out.printf("INR: %.2f%n", convertedAmount); break;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FFBE73"/>
                </a:solidFill>
                <a:latin typeface="Consolas"/>
              </a:defRPr>
            </a:pPr>
            <a:r>
              <a:t>                    case 5: convertedAmount = amount * GBP;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                System.out.printf("GBP: %.2f%n", convertedAmount); break;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FFBE73"/>
                </a:solidFill>
                <a:latin typeface="Consolas"/>
              </a:defRPr>
            </a:pPr>
            <a:r>
              <a:t>                    case 6: convertedAmount = amount / GBP;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                System.out.printf("INR: %.2f%n", convertedAmount); break;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} else if (choice == 7)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    System.out.println("Thank you for using Currency Converter!");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} else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    System.out.println("Invalid choice. Try again.");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} while (choice != 7);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    sc.close();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80">
                <a:solidFill>
                  <a:srgbClr val="AFDCE8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07  |  Sample Execution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51560" cy="50292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E1E9F4"/>
                </a:solidFill>
                <a:latin typeface="Aptos"/>
              </a:defRPr>
            </a:pPr>
            <a:r>
              <a:t>Example console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1BEC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6858000" cy="3429000"/>
          </a:xfrm>
          <a:prstGeom prst="roundRect">
            <a:avLst/>
          </a:prstGeom>
          <a:solidFill>
            <a:srgbClr val="091121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847088"/>
            <a:ext cx="6528816" cy="3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AFDCE8"/>
                </a:solidFill>
                <a:latin typeface="Consolas"/>
              </a:defRPr>
            </a:pPr>
            <a:r>
              <a:t>===== CURRENCY CONVERTER =====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AFDCE8"/>
                </a:solidFill>
                <a:latin typeface="Consolas"/>
              </a:defRPr>
            </a:pPr>
            <a:r>
              <a:t>1. INR to USD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AFDCE8"/>
                </a:solidFill>
                <a:latin typeface="Consolas"/>
              </a:defRPr>
            </a:pPr>
            <a:r>
              <a:t>2. USD to INR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AFDCE8"/>
                </a:solidFill>
                <a:latin typeface="Consolas"/>
              </a:defRPr>
            </a:pPr>
            <a:r>
              <a:t>3. INR to EUR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AFDCE8"/>
                </a:solidFill>
                <a:latin typeface="Consolas"/>
              </a:defRPr>
            </a:pPr>
            <a:r>
              <a:t>4. EUR to INR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AFDCE8"/>
                </a:solidFill>
                <a:latin typeface="Consolas"/>
              </a:defRPr>
            </a:pPr>
            <a:r>
              <a:t>5. INR to GBP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AFDCE8"/>
                </a:solidFill>
                <a:latin typeface="Consolas"/>
              </a:defRPr>
            </a:pPr>
            <a:r>
              <a:t>6. GBP to INR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AFDCE8"/>
                </a:solidFill>
                <a:latin typeface="Consolas"/>
              </a:defRPr>
            </a:pPr>
            <a:r>
              <a:t>7. Exit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AFDCE8"/>
                </a:solidFill>
                <a:latin typeface="Consolas"/>
              </a:defRPr>
            </a:pPr>
            <a:r>
              <a:t>Enter your choice: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AFDCE8"/>
                </a:solidFill>
                <a:latin typeface="Consolas"/>
              </a:defRPr>
            </a:pPr>
            <a:r>
              <a:t>Enter amount: 1000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00">
                <a:solidFill>
                  <a:srgbClr val="AFDCE8"/>
                </a:solidFill>
                <a:latin typeface="Consolas"/>
              </a:defRPr>
            </a:pPr>
            <a:r>
              <a:t>USD: 12.00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200400" cy="132588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46720" y="1993392"/>
            <a:ext cx="54864" cy="996695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47888" y="1993392"/>
            <a:ext cx="28346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1BEC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441448"/>
            <a:ext cx="2816352" cy="6126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7F9FC"/>
                </a:solidFill>
                <a:latin typeface="Aptos"/>
              </a:defRPr>
            </a:pPr>
            <a:r>
              <a:t>Choice: 1</a:t>
            </a:r>
          </a:p>
          <a:p>
            <a:pPr>
              <a:spcAft>
                <a:spcPts val="700"/>
              </a:spcAft>
              <a:defRPr sz="1500" b="0">
                <a:solidFill>
                  <a:srgbClr val="F7F9FC"/>
                </a:solidFill>
                <a:latin typeface="Aptos"/>
              </a:defRPr>
            </a:pPr>
            <a:r>
              <a:t>Amount: ₹1,000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429000"/>
            <a:ext cx="3200400" cy="132588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3593592"/>
            <a:ext cx="54864" cy="996695"/>
          </a:xfrm>
          <a:prstGeom prst="rect">
            <a:avLst/>
          </a:prstGeom>
          <a:solidFill>
            <a:srgbClr val="F7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3593592"/>
            <a:ext cx="283464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7A44A"/>
                </a:solidFill>
                <a:latin typeface="Aptos"/>
              </a:defRPr>
            </a:pPr>
            <a:r>
              <a:t>Calculation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4041648"/>
            <a:ext cx="2816352" cy="6126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7F9FC"/>
                </a:solidFill>
                <a:latin typeface="Aptos"/>
              </a:defRPr>
            </a:pPr>
            <a:r>
              <a:t>1,000 × 0.012 =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978408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31BECC"/>
                </a:solidFill>
                <a:latin typeface="Aptos"/>
              </a:defRPr>
            </a:pPr>
            <a:r>
              <a:t>The displayed result is formatted to two decimal places.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08  |  Benefits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51560" cy="50292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E1E9F4"/>
                </a:solidFill>
                <a:latin typeface="Aptos"/>
              </a:defRPr>
            </a:pPr>
            <a:r>
              <a:t>What the current version provides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1BEC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347472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56232"/>
            <a:ext cx="54864" cy="3145536"/>
          </a:xfrm>
          <a:prstGeom prst="rect">
            <a:avLst/>
          </a:prstGeom>
          <a:solidFill>
            <a:srgbClr val="36B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6B07E"/>
                </a:solidFill>
                <a:latin typeface="Aptos"/>
              </a:defRPr>
            </a:pPr>
            <a: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4828032" cy="27614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r>
              <a:t>• Simple and easy to use</a:t>
            </a:r>
          </a:p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r>
              <a:t>• Demonstrates core Java concepts</a:t>
            </a:r>
          </a:p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r>
              <a:t>• Supports multiple currency pairs</a:t>
            </a:r>
          </a:p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r>
              <a:t>• Validates common input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212080" cy="347472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56232"/>
            <a:ext cx="54864" cy="3145536"/>
          </a:xfrm>
          <a:prstGeom prst="rect">
            <a:avLst/>
          </a:prstGeom>
          <a:solidFill>
            <a:srgbClr val="F7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856232"/>
            <a:ext cx="48463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7A44A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04288"/>
            <a:ext cx="4828032" cy="27614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r>
              <a:t>• Exchange rates are fixed examples</a:t>
            </a:r>
          </a:p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r>
              <a:t>• Console-based interface only</a:t>
            </a:r>
          </a:p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r>
              <a:t>• No online API or transaction fees</a:t>
            </a:r>
          </a:p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700" b="0">
                <a:solidFill>
                  <a:srgbClr val="F7F9FC"/>
                </a:solidFill>
                <a:latin typeface="Aptos"/>
              </a:defRPr>
            </a:pPr>
            <a:r>
              <a:t>• Numeric input is assumed to be valid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600" b="0">
                <a:solidFill>
                  <a:srgbClr val="E1E9F4"/>
                </a:solidFill>
                <a:latin typeface="Aptos"/>
              </a:defRPr>
            </a:pPr>
            <a:r>
              <a:t>This is an educational prototype, not a financial or trading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09  | 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51560" cy="50292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E1E9F4"/>
                </a:solidFill>
                <a:latin typeface="Aptos"/>
              </a:defRPr>
            </a:pPr>
            <a:r>
              <a:t>Possible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1BEC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74720" cy="160020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56232"/>
            <a:ext cx="54864" cy="1271016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56232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1BECC"/>
                </a:solidFill>
                <a:latin typeface="Aptos"/>
              </a:defRPr>
            </a:pPr>
            <a:r>
              <a:t>Live exchange 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3090672" cy="8869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7F9FC"/>
                </a:solidFill>
                <a:latin typeface="Aptos"/>
              </a:defRPr>
            </a:pPr>
            <a:r>
              <a:t>Connect to a reliable currency-rate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91640"/>
            <a:ext cx="3474720" cy="160020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1856232"/>
            <a:ext cx="54864" cy="1271016"/>
          </a:xfrm>
          <a:prstGeom prst="rect">
            <a:avLst/>
          </a:prstGeom>
          <a:solidFill>
            <a:srgbClr val="23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856232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35BAA"/>
                </a:solidFill>
                <a:latin typeface="Aptos"/>
              </a:defRPr>
            </a:pPr>
            <a:r>
              <a:t>More currencies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304288"/>
            <a:ext cx="3090672" cy="8869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7F9FC"/>
                </a:solidFill>
                <a:latin typeface="Aptos"/>
              </a:defRPr>
            </a:pPr>
            <a:r>
              <a:t>Add JPY, CAD, AUD, SGD and more.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91640"/>
            <a:ext cx="3474720" cy="160020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1856232"/>
            <a:ext cx="54864" cy="1271016"/>
          </a:xfrm>
          <a:prstGeom prst="rect">
            <a:avLst/>
          </a:prstGeom>
          <a:solidFill>
            <a:srgbClr val="F7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22208" y="1856232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7A44A"/>
                </a:solidFill>
                <a:latin typeface="Aptos"/>
              </a:defRPr>
            </a:pPr>
            <a:r>
              <a:t>Graphical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304288"/>
            <a:ext cx="3090672" cy="8869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7F9FC"/>
                </a:solidFill>
                <a:latin typeface="Aptos"/>
              </a:defRPr>
            </a:pPr>
            <a:r>
              <a:t>Build a desktop UI using JavaFX or Swing.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3474720" cy="160020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913631"/>
            <a:ext cx="54864" cy="1271016"/>
          </a:xfrm>
          <a:prstGeom prst="rect">
            <a:avLst/>
          </a:prstGeom>
          <a:solidFill>
            <a:srgbClr val="36B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3913631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6B07E"/>
                </a:solidFill>
                <a:latin typeface="Aptos"/>
              </a:defRPr>
            </a:pPr>
            <a:r>
              <a:t>Robust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361688"/>
            <a:ext cx="3090672" cy="8869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7F9FC"/>
                </a:solidFill>
                <a:latin typeface="Aptos"/>
              </a:defRPr>
            </a:pPr>
            <a:r>
              <a:t>Handle letters, blank input and very large values.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749039"/>
            <a:ext cx="3474720" cy="160020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26280" y="3913631"/>
            <a:ext cx="54864" cy="1271016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3913631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1BECC"/>
                </a:solidFill>
                <a:latin typeface="Aptos"/>
              </a:defRPr>
            </a:pPr>
            <a:r>
              <a:t>Conversion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4361688"/>
            <a:ext cx="3090672" cy="8869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7F9FC"/>
                </a:solidFill>
                <a:latin typeface="Aptos"/>
              </a:defRPr>
            </a:pPr>
            <a:r>
              <a:t>Store recent conversions in a file or database.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749039"/>
            <a:ext cx="3474720" cy="1600200"/>
          </a:xfrm>
          <a:prstGeom prst="roundRect">
            <a:avLst/>
          </a:prstGeom>
          <a:solidFill>
            <a:srgbClr val="182A49"/>
          </a:solidFill>
          <a:ln>
            <a:solidFill>
              <a:srgbClr val="32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3913631"/>
            <a:ext cx="54864" cy="1271016"/>
          </a:xfrm>
          <a:prstGeom prst="rect">
            <a:avLst/>
          </a:prstGeom>
          <a:solidFill>
            <a:srgbClr val="23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8" y="3913631"/>
            <a:ext cx="31089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35BAA"/>
                </a:solidFill>
                <a:latin typeface="Aptos"/>
              </a:defRPr>
            </a:pPr>
            <a:r>
              <a:t>Fees &amp; rounding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361688"/>
            <a:ext cx="3090672" cy="8869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7F9FC"/>
                </a:solidFill>
                <a:latin typeface="Aptos"/>
              </a:defRPr>
            </a:pPr>
            <a:r>
              <a:t>Include service charges and currency-specific precision.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31BECC"/>
                </a:solidFill>
                <a:latin typeface="Aptos"/>
              </a:defRPr>
            </a:pPr>
            <a:r>
              <a:t>A live-rate API would be the most important upgrade for real-world usefulness.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7F9FC"/>
                </a:solidFill>
                <a:latin typeface="Aptos"/>
              </a:defRPr>
            </a:pPr>
            <a:r>
              <a:t>10  | 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41832"/>
            <a:ext cx="1051560" cy="50292"/>
          </a:xfrm>
          <a:prstGeom prst="rect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E1E9F4"/>
                </a:solidFill>
                <a:latin typeface="Aptos"/>
              </a:defRPr>
            </a:pPr>
            <a: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31BEC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241280" cy="10058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F7F9FC"/>
                </a:solidFill>
                <a:latin typeface="Aptos"/>
              </a:defRPr>
            </a:pPr>
            <a:r>
              <a:t>The Currency Converter System using Java demonstrates how a small console application can solve a practical conversion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9875520" cy="2194560"/>
          </a:xfrm>
          <a:prstGeom prst="rect">
            <a:avLst/>
          </a:prstGeom>
          <a:noFill/>
        </p:spPr>
        <p:txBody>
          <a:bodyPr wrap="square" lIns="73152" tIns="36576" rIns="54864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7F9FC"/>
                </a:solidFill>
                <a:latin typeface="Aptos"/>
              </a:defRPr>
            </a:pPr>
            <a:r>
              <a:t>•  Accepts user choices and an amount through Scanner.</a:t>
            </a:r>
          </a:p>
          <a:p>
            <a:pPr>
              <a:spcAft>
                <a:spcPts val="1200"/>
              </a:spcAft>
              <a:defRPr sz="1800">
                <a:solidFill>
                  <a:srgbClr val="F7F9FC"/>
                </a:solidFill>
                <a:latin typeface="Aptos"/>
              </a:defRPr>
            </a:pPr>
            <a:r>
              <a:t>•  Uses switch-case statements to select conversion formulas.</a:t>
            </a:r>
          </a:p>
          <a:p>
            <a:pPr>
              <a:spcAft>
                <a:spcPts val="1200"/>
              </a:spcAft>
              <a:defRPr sz="1800">
                <a:solidFill>
                  <a:srgbClr val="F7F9FC"/>
                </a:solidFill>
                <a:latin typeface="Aptos"/>
              </a:defRPr>
            </a:pPr>
            <a:r>
              <a:t>•  Uses loops and conditions for repeated operation and basic validation.</a:t>
            </a:r>
          </a:p>
          <a:p>
            <a:pPr>
              <a:spcAft>
                <a:spcPts val="1200"/>
              </a:spcAft>
              <a:defRPr sz="1800">
                <a:solidFill>
                  <a:srgbClr val="F7F9FC"/>
                </a:solidFill>
                <a:latin typeface="Aptos"/>
              </a:defRPr>
            </a:pPr>
            <a:r>
              <a:t>•  Can be extended with live rates, more currencies and a graphical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1498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31BECC"/>
                </a:solidFill>
                <a:latin typeface="Aptos"/>
              </a:defRPr>
            </a:pPr>
            <a:r>
              <a:t>The project provides a foundation for learning Java and building more capable applications.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731520"/>
            <a:ext cx="594360" cy="594360"/>
          </a:xfrm>
          <a:prstGeom prst="ellipse">
            <a:avLst/>
          </a:prstGeom>
          <a:solidFill>
            <a:srgbClr val="3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508760" y="1234440"/>
            <a:ext cx="320040" cy="320040"/>
          </a:xfrm>
          <a:prstGeom prst="ellipse">
            <a:avLst/>
          </a:prstGeom>
          <a:solidFill>
            <a:srgbClr val="F7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84080" y="685800"/>
            <a:ext cx="1097280" cy="1097280"/>
          </a:xfrm>
          <a:prstGeom prst="ellipse">
            <a:avLst/>
          </a:prstGeom>
          <a:solidFill>
            <a:srgbClr val="23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52760" y="1828800"/>
            <a:ext cx="502920" cy="502920"/>
          </a:xfrm>
          <a:prstGeom prst="ellipse">
            <a:avLst/>
          </a:prstGeom>
          <a:solidFill>
            <a:srgbClr val="36B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0" y="5029200"/>
            <a:ext cx="731520" cy="731520"/>
          </a:xfrm>
          <a:prstGeom prst="ellipse">
            <a:avLst/>
          </a:prstGeom>
          <a:solidFill>
            <a:srgbClr val="F7A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43000" y="5212080"/>
            <a:ext cx="914400" cy="914400"/>
          </a:xfrm>
          <a:prstGeom prst="ellipse">
            <a:avLst/>
          </a:prstGeom>
          <a:solidFill>
            <a:srgbClr val="23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6320" y="2880360"/>
            <a:ext cx="10149840" cy="10972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700"/>
              </a:spcAft>
              <a:defRPr sz="4400" b="1">
                <a:solidFill>
                  <a:srgbClr val="F7F9FC"/>
                </a:solidFill>
                <a:latin typeface="Aptos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shrisuriyas19@gmail.com</cp:lastModifiedBy>
  <cp:revision>2</cp:revision>
  <dcterms:created xsi:type="dcterms:W3CDTF">2013-01-27T09:14:16Z</dcterms:created>
  <dcterms:modified xsi:type="dcterms:W3CDTF">2026-10-22T02:49:04Z</dcterms:modified>
  <cp:category/>
</cp:coreProperties>
</file>